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Perfiles ciudadanos de</a:t>
            </a:r>
            <a:br/>
            <a:r>
              <a:t>participación electoral en México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4D2F0"/>
                </a:solidFill>
              </a:defRPr>
            </a:pPr>
            <a:r>
              <a:t>Segmentación sociodemográfica basada en datos del CCPC 2009-2024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6BEDC"/>
                </a:solidFill>
              </a:defRPr>
            </a:pPr>
            <a:r>
              <a:t>Reto 1 | Hackea la Participación: Datos que construyen democracia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8DCF0"/>
                </a:solidFill>
              </a:defRPr>
            </a:pPr>
            <a:r>
              <a:t>Ángel David Durazo Bartolini  |  Jehú Jonathan Ramírez Ramírez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2AAC8"/>
                </a:solidFill>
              </a:defRPr>
            </a:pPr>
            <a:r>
              <a:t>INE Hackatón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Contexto y objetivo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02920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</a:defRPr>
            </a:pPr>
            <a:r>
              <a:t>El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</a:defRPr>
            </a:pPr>
            <a:r>
              <a:t>Presidenciales: ~60% de participación</a:t>
            </a:r>
          </a:p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</a:defRPr>
            </a:pPr>
            <a:r>
              <a:t>Intermedias: ~47% de participación</a:t>
            </a:r>
          </a:p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</a:defRPr>
            </a:pPr>
            <a:r>
              <a:t>Brecha de 13 puntos que no afecta a todos por igual</a:t>
            </a:r>
          </a:p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</a:defRPr>
            </a:pPr>
            <a:r>
              <a:t>Las estrategias genéricas no funcionan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188720"/>
            <a:ext cx="502920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</a:defRPr>
            </a:pPr>
            <a:r>
              <a:t>Nuestro enfoque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01168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</a:defRPr>
            </a:pPr>
            <a:r>
              <a:t>657,497 celdas sociodemográficas (sección x sexo x edad)</a:t>
            </a:r>
          </a:p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</a:defRPr>
            </a:pPr>
            <a:r>
              <a:t>71.2 millones de personas (LN 2024)</a:t>
            </a:r>
          </a:p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</a:defRPr>
            </a:pPr>
            <a:r>
              <a:t>6 elecciones federales (2009-2024)</a:t>
            </a:r>
          </a:p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</a:defRPr>
            </a:pPr>
            <a:r>
              <a:t>Segmentación por conducta electoral, no por demografía</a:t>
            </a:r>
          </a:p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</a:defRPr>
            </a:pPr>
            <a:r>
              <a:t>6 perfiles con estrategias diferenciadas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Datos y variables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2560320" cy="2560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3366"/>
                </a:solidFill>
              </a:defRPr>
            </a:pPr>
            <a:r>
              <a:t>CCPC Federal</a:t>
            </a:r>
            <a:br/>
            <a:r>
              <a:t>2009-2024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C3C3C"/>
                </a:solidFill>
              </a:defRPr>
            </a:pPr>
            <a:r>
              <a:t>54.9M filas</a:t>
            </a:r>
            <a:br/>
            <a:r>
              <a:t>6 elecciones</a:t>
            </a:r>
            <a:br/>
            <a:r>
              <a:t>32 entidades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6699"/>
                </a:solidFill>
              </a:defRPr>
            </a:pPr>
            <a:r>
              <a:t>Tasas de participación</a:t>
            </a:r>
            <a:br/>
            <a:r>
              <a:t>por celda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1188720"/>
            <a:ext cx="2560320" cy="2560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49040" y="137160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3366"/>
                </a:solidFill>
              </a:defRPr>
            </a:pPr>
            <a:r>
              <a:t>CCPC PJ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40" y="210312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C3C3C"/>
                </a:solidFill>
              </a:defRPr>
            </a:pPr>
            <a:r>
              <a:t>9.8M filas</a:t>
            </a:r>
            <a:br/>
            <a:r>
              <a:t>31 entidades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40" y="29260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6699"/>
                </a:solidFill>
              </a:defRPr>
            </a:pPr>
            <a:r>
              <a:t>Descriptor</a:t>
            </a:r>
            <a:br/>
            <a:r>
              <a:t>complementario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188720"/>
            <a:ext cx="2560320" cy="2560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37160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3366"/>
                </a:solidFill>
              </a:defRPr>
            </a:pPr>
            <a:r>
              <a:t>ECEG 2020</a:t>
            </a:r>
            <a:br/>
            <a:r>
              <a:t>(INEGI-INE)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10312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C3C3C"/>
                </a:solidFill>
              </a:defRPr>
            </a:pPr>
            <a:r>
              <a:t>68,806 secciones</a:t>
            </a:r>
            <a:br/>
            <a:r>
              <a:t>220 indicadores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9260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6699"/>
                </a:solidFill>
              </a:defRPr>
            </a:pPr>
            <a:r>
              <a:t>Escolaridad e internet</a:t>
            </a:r>
            <a:br/>
            <a:r>
              <a:t>por sección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440" y="1188720"/>
            <a:ext cx="2560320" cy="2560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0" y="137160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3366"/>
                </a:solidFill>
              </a:defRPr>
            </a:pPr>
            <a:r>
              <a:t>Marco</a:t>
            </a:r>
            <a:br/>
            <a:r>
              <a:t>geoestadístico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210312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C3C3C"/>
                </a:solidFill>
              </a:defRPr>
            </a:pPr>
            <a:r>
              <a:t>2,475 municipios</a:t>
            </a:r>
            <a:br/>
            <a:r>
              <a:t>SHP CONABIO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9260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6699"/>
                </a:solidFill>
              </a:defRPr>
            </a:pPr>
            <a:r>
              <a:t>Cartografía</a:t>
            </a:r>
            <a:br/>
            <a:r>
              <a:t>para mapas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</a:defRPr>
            </a:pPr>
            <a:r>
              <a:t>Indicadores por celda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754880"/>
            <a:ext cx="25603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846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6699"/>
                </a:solidFill>
              </a:defRPr>
            </a:pPr>
            <a:r>
              <a:t>Promedio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3949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C3C3C"/>
                </a:solidFill>
              </a:defRPr>
            </a:pPr>
            <a:r>
              <a:t>Media de 6 tasas electorales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66160" y="4754880"/>
            <a:ext cx="25603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49040" y="4846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6699"/>
                </a:solidFill>
              </a:defRPr>
            </a:pPr>
            <a:r>
              <a:t>Brecha presidencial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40" y="53949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C3C3C"/>
                </a:solidFill>
              </a:defRPr>
            </a:pPr>
            <a:r>
              <a:t>Presidenciales - intermedias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4754880"/>
            <a:ext cx="25603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4846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6699"/>
                </a:solidFill>
              </a:defRPr>
            </a:pPr>
            <a:r>
              <a:t>Tendencia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53949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C3C3C"/>
                </a:solidFill>
              </a:defRPr>
            </a:pPr>
            <a:r>
              <a:t>Cambio por elección (pp)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235440" y="4754880"/>
            <a:ext cx="25603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0" y="4846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6699"/>
                </a:solidFill>
              </a:defRPr>
            </a:pPr>
            <a:r>
              <a:t>Desviación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53949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C3C3C"/>
                </a:solidFill>
              </a:defRPr>
            </a:pPr>
            <a:r>
              <a:t>Estabilidad entre elecciones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Metodología: Análisis de Clases Latentes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2560320" cy="2926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6699"/>
                </a:solidFill>
              </a:defRPr>
            </a:pPr>
            <a:r>
              <a:t>1. Exploración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C3C3C"/>
                </a:solidFill>
              </a:defRPr>
            </a:pPr>
            <a:r>
              <a:t>2,000+ configuraciones</a:t>
            </a:r>
            <a:br/>
            <a:r>
              <a:t>de clustering evaluadas</a:t>
            </a:r>
            <a:br/>
            <a:r>
              <a:t>(K-Means, GMM, Ward,</a:t>
            </a:r>
            <a:br/>
            <a:r>
              <a:t>HDBSCAN, espectral...)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1188720"/>
            <a:ext cx="2560320" cy="2926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49040" y="13716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6699"/>
                </a:solidFill>
              </a:defRPr>
            </a:pPr>
            <a:r>
              <a:t>2.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40" y="201168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C3C3C"/>
                </a:solidFill>
              </a:defRPr>
            </a:pPr>
            <a:r>
              <a:t>Clustering clásico</a:t>
            </a:r>
            <a:br/>
            <a:r>
              <a:t>separa por NIVEL</a:t>
            </a:r>
            <a:br/>
            <a:r>
              <a:t>(alto/medio/bajo).</a:t>
            </a:r>
            <a:br/>
            <a:r>
              <a:t>No captura la FORMA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188720"/>
            <a:ext cx="2560320" cy="2926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3716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6699"/>
                </a:solidFill>
              </a:defRPr>
            </a:pPr>
            <a:r>
              <a:t>3. LCA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01168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C3C3C"/>
                </a:solidFill>
              </a:defRPr>
            </a:pPr>
            <a:r>
              <a:t>Terciles por elección</a:t>
            </a:r>
            <a:br/>
            <a:r>
              <a:t>+ mezcla categórica</a:t>
            </a:r>
            <a:br/>
            <a:r>
              <a:t>con EM propio.</a:t>
            </a:r>
            <a:br/>
            <a:r>
              <a:t>Captura nivel Y forma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188720"/>
            <a:ext cx="2560320" cy="2926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0" y="13716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6699"/>
                </a:solidFill>
              </a:defRPr>
            </a:pPr>
            <a:r>
              <a:t>4. Validación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201168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C3C3C"/>
                </a:solidFill>
              </a:defRPr>
            </a:pPr>
            <a:r>
              <a:t>ARI bootstrap = 0.98</a:t>
            </a:r>
            <a:br/>
            <a:r>
              <a:t>(mín 0.95, 5 réplicas)</a:t>
            </a:r>
            <a:br/>
            <a:r>
              <a:t>Entropía relativa: 0.78</a:t>
            </a:r>
            <a:br/>
            <a:r>
              <a:t>69% asignación clara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5720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C3C3C"/>
                </a:solidFill>
              </a:defRPr>
            </a:pPr>
            <a:r>
              <a:t>Ventaja clave: la discretización en terciles por elección normaliza el nivel y permite capturar simultáneamente el patrón temporal (brecha y tendencia). La demografía (edad, sexo, escolaridad, región) se usa como descriptor posterior, no como entrada: los perfiles emergen del comportamiento.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6 perfiles ciudadanos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14400"/>
            <a:ext cx="169164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691640" cy="137160"/>
          </a:xfrm>
          <a:prstGeom prst="rect">
            <a:avLst/>
          </a:prstGeom>
          <a:solidFill>
            <a:srgbClr val="DC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508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C3232"/>
                </a:solidFill>
              </a:defRPr>
            </a:pPr>
            <a:r>
              <a:t>P0: Por convencer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15.3M (21%)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99"/>
                </a:solidFill>
              </a:defRPr>
            </a:pPr>
            <a:r>
              <a:t>Prom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C3232"/>
                </a:solidFill>
              </a:defRPr>
            </a:pPr>
            <a:r>
              <a:t>37.3%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88920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99"/>
                </a:solidFill>
              </a:defRPr>
            </a:pPr>
            <a:r>
              <a:t>Brecha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7180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C3232"/>
                </a:solidFill>
              </a:defRPr>
            </a:pPr>
            <a:r>
              <a:t>+14.3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99"/>
                </a:solidFill>
              </a:defRPr>
            </a:pPr>
            <a:r>
              <a:t>Tend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7472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C3232"/>
                </a:solidFill>
              </a:defRPr>
            </a:pPr>
            <a:r>
              <a:t>+1.1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114800"/>
            <a:ext cx="1508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C3C3C"/>
                </a:solidFill>
              </a:defRPr>
            </a:pPr>
            <a:r>
              <a:t>75% hombres</a:t>
            </a:r>
            <a:br/>
            <a:r>
              <a:t>87% &lt; 40 años</a:t>
            </a:r>
            <a:br/>
            <a:r>
              <a:t>Noroeste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13432" y="914400"/>
            <a:ext cx="169164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13432" y="914400"/>
            <a:ext cx="1691640" cy="137160"/>
          </a:xfrm>
          <a:prstGeom prst="rect">
            <a:avLst/>
          </a:prstGeom>
          <a:solidFill>
            <a:srgbClr val="E69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04872" y="1097280"/>
            <a:ext cx="1508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6961E"/>
                </a:solidFill>
              </a:defRPr>
            </a:pPr>
            <a:r>
              <a:t>P1: Constancia</a:t>
            </a:r>
            <a:br/>
            <a:r>
              <a:t>que se apaga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04872" y="182880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5.9M (8%)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04872" y="2286000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99"/>
                </a:solidFill>
              </a:defRPr>
            </a:pPr>
            <a:r>
              <a:t>Prom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04872" y="246888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6961E"/>
                </a:solidFill>
              </a:defRPr>
            </a:pPr>
            <a:r>
              <a:t>48.5%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04872" y="2788920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99"/>
                </a:solidFill>
              </a:defRPr>
            </a:pPr>
            <a:r>
              <a:t>Brecha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04872" y="297180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6961E"/>
                </a:solidFill>
              </a:defRPr>
            </a:pPr>
            <a:r>
              <a:t>+7.6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04872" y="3291840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99"/>
                </a:solidFill>
              </a:defRPr>
            </a:pPr>
            <a:r>
              <a:t>Tend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04872" y="347472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6961E"/>
                </a:solidFill>
              </a:defRPr>
            </a:pPr>
            <a:r>
              <a:t>-1.6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04872" y="4114800"/>
            <a:ext cx="1508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C3C3C"/>
                </a:solidFill>
              </a:defRPr>
            </a:pPr>
            <a:r>
              <a:t>Mixto género</a:t>
            </a:r>
            <a:br/>
            <a:r>
              <a:t>Occidente</a:t>
            </a:r>
            <a:br/>
            <a:r>
              <a:t>En descenso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69664" y="914400"/>
            <a:ext cx="169164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69664" y="914400"/>
            <a:ext cx="1691640" cy="137160"/>
          </a:xfrm>
          <a:prstGeom prst="rect">
            <a:avLst/>
          </a:prstGeom>
          <a:solidFill>
            <a:srgbClr val="32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61104" y="1097280"/>
            <a:ext cx="1508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2A050"/>
                </a:solidFill>
              </a:defRPr>
            </a:pPr>
            <a:r>
              <a:t>P2: Generación</a:t>
            </a:r>
            <a:br/>
            <a:r>
              <a:t>en ascenso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61104" y="182880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13.3M (19%)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1104" y="2286000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99"/>
                </a:solidFill>
              </a:defRPr>
            </a:pPr>
            <a:r>
              <a:t>Prom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61104" y="246888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2A050"/>
                </a:solidFill>
              </a:defRPr>
            </a:pPr>
            <a:r>
              <a:t>50.5%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61104" y="2788920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99"/>
                </a:solidFill>
              </a:defRPr>
            </a:pPr>
            <a:r>
              <a:t>Brecha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61104" y="297180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2A050"/>
                </a:solidFill>
              </a:defRPr>
            </a:pPr>
            <a:r>
              <a:t>+18.4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61104" y="3291840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99"/>
                </a:solidFill>
              </a:defRPr>
            </a:pPr>
            <a:r>
              <a:t>Tend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61104" y="347472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2A050"/>
                </a:solidFill>
              </a:defRPr>
            </a:pPr>
            <a:r>
              <a:t>+3.0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61104" y="4114800"/>
            <a:ext cx="1508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C3C3C"/>
                </a:solidFill>
              </a:defRPr>
            </a:pPr>
            <a:r>
              <a:t>53% mujeres</a:t>
            </a:r>
            <a:br/>
            <a:r>
              <a:t>66% &lt; 40</a:t>
            </a:r>
            <a:br/>
            <a:r>
              <a:t>Urbano, digital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25896" y="914400"/>
            <a:ext cx="169164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25896" y="914400"/>
            <a:ext cx="1691640" cy="137160"/>
          </a:xfrm>
          <a:prstGeom prst="rect">
            <a:avLst/>
          </a:prstGeom>
          <a:solidFill>
            <a:srgbClr val="28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17336" y="1097280"/>
            <a:ext cx="1508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878B4"/>
                </a:solidFill>
              </a:defRPr>
            </a:pPr>
            <a:r>
              <a:t>P3: Paso firme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17336" y="182880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11.6M (16%)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17336" y="2286000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99"/>
                </a:solidFill>
              </a:defRPr>
            </a:pPr>
            <a:r>
              <a:t>Prom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17336" y="246888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878B4"/>
                </a:solidFill>
              </a:defRPr>
            </a:pPr>
            <a:r>
              <a:t>60.3%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17336" y="2788920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99"/>
                </a:solidFill>
              </a:defRPr>
            </a:pPr>
            <a:r>
              <a:t>Brecha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17336" y="297180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878B4"/>
                </a:solidFill>
              </a:defRPr>
            </a:pPr>
            <a:r>
              <a:t>+9.3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17336" y="3291840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99"/>
                </a:solidFill>
              </a:defRPr>
            </a:pPr>
            <a:r>
              <a:t>Tend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17336" y="347472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878B4"/>
                </a:solidFill>
              </a:defRPr>
            </a:pPr>
            <a:r>
              <a:t>-0.1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17336" y="4114800"/>
            <a:ext cx="1508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C3C3C"/>
                </a:solidFill>
              </a:defRPr>
            </a:pPr>
            <a:r>
              <a:t>57% mujeres</a:t>
            </a:r>
            <a:br/>
            <a:r>
              <a:t>40-49 años</a:t>
            </a:r>
            <a:br/>
            <a:r>
              <a:t>Occidente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882128" y="914400"/>
            <a:ext cx="169164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882128" y="914400"/>
            <a:ext cx="1691640" cy="137160"/>
          </a:xfrm>
          <a:prstGeom prst="rect">
            <a:avLst/>
          </a:prstGeom>
          <a:solidFill>
            <a:srgbClr val="963C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73568" y="1097280"/>
            <a:ext cx="1508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963CB4"/>
                </a:solidFill>
              </a:defRPr>
            </a:pPr>
            <a:r>
              <a:t>P4: Voces que</a:t>
            </a:r>
            <a:br/>
            <a:r>
              <a:t>avanzan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73568" y="182880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8.4M (12%)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73568" y="2286000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99"/>
                </a:solidFill>
              </a:defRPr>
            </a:pPr>
            <a:r>
              <a:t>Prom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73568" y="246888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963CB4"/>
                </a:solidFill>
              </a:defRPr>
            </a:pPr>
            <a:r>
              <a:t>62.0%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73568" y="2788920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99"/>
                </a:solidFill>
              </a:defRPr>
            </a:pPr>
            <a:r>
              <a:t>Brecha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73568" y="297180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963CB4"/>
                </a:solidFill>
              </a:defRPr>
            </a:pPr>
            <a:r>
              <a:t>+19.5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73568" y="3291840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99"/>
                </a:solidFill>
              </a:defRPr>
            </a:pPr>
            <a:r>
              <a:t>Tend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73568" y="347472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963CB4"/>
                </a:solidFill>
              </a:defRPr>
            </a:pPr>
            <a:r>
              <a:t>+4.5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73568" y="4114800"/>
            <a:ext cx="1508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C3C3C"/>
                </a:solidFill>
              </a:defRPr>
            </a:pPr>
            <a:r>
              <a:t>68% mujeres</a:t>
            </a:r>
            <a:br/>
            <a:r>
              <a:t>Mayor escolaridad</a:t>
            </a:r>
            <a:br/>
            <a:r>
              <a:t>Crecimiento máx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738360" y="914400"/>
            <a:ext cx="169164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738360" y="914400"/>
            <a:ext cx="1691640" cy="137160"/>
          </a:xfrm>
          <a:prstGeom prst="rect">
            <a:avLst/>
          </a:prstGeom>
          <a:solidFill>
            <a:srgbClr val="3C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29800" y="1097280"/>
            <a:ext cx="1508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C3C3C"/>
                </a:solidFill>
              </a:defRPr>
            </a:pPr>
            <a:r>
              <a:t>P5: Pilar</a:t>
            </a:r>
            <a:br/>
            <a:r>
              <a:t>democrático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800" y="182880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16.7M (24%)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29800" y="2286000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99"/>
                </a:solidFill>
              </a:defRPr>
            </a:pPr>
            <a:r>
              <a:t>Prom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29800" y="246888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C3C3C"/>
                </a:solidFill>
              </a:defRPr>
            </a:pPr>
            <a:r>
              <a:t>72.8%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829800" y="2788920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99"/>
                </a:solidFill>
              </a:defRPr>
            </a:pPr>
            <a:r>
              <a:t>Brecha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829800" y="297180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C3C3C"/>
                </a:solidFill>
              </a:defRPr>
            </a:pPr>
            <a:r>
              <a:t>+10.6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829800" y="3291840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99"/>
                </a:solidFill>
              </a:defRPr>
            </a:pPr>
            <a:r>
              <a:t>Tend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29800" y="347472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C3C3C"/>
                </a:solidFill>
              </a:defRPr>
            </a:pPr>
            <a:r>
              <a:t>+1.8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29800" y="4114800"/>
            <a:ext cx="1508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C3C3C"/>
                </a:solidFill>
              </a:defRPr>
            </a:pPr>
            <a:r>
              <a:t>69% mujeres</a:t>
            </a:r>
            <a:br/>
            <a:r>
              <a:t>50-59 años</a:t>
            </a:r>
            <a:br/>
            <a:r>
              <a:t>Rural, indígena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Hallazgos clave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10515600" cy="11887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80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</a:defRPr>
            </a:pPr>
            <a:r>
              <a:t>La baja participación es URBANA y JOVEN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6916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C3C3C"/>
                </a:solidFill>
              </a:defRPr>
            </a:pPr>
            <a:r>
              <a:t>P0 tiene solo 4-5% en municipios de alta marginación. Las zonas rurales e indígenas participan más que el promedio.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10515600" cy="11887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51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</a:defRPr>
            </a:pPr>
            <a:r>
              <a:t>La brecha presidencial-intermedia es el problema central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C3C3C"/>
                </a:solidFill>
              </a:defRPr>
            </a:pPr>
            <a:r>
              <a:t>P0, P2 y P4 (52% de la población) pierden 14-20 puntos en intermedias. El reto no es incorporar, sino sostener.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10515600" cy="11887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023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</a:defRPr>
            </a:pPr>
            <a:r>
              <a:t>Las secciones indígenas participan más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34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C3C3C"/>
                </a:solidFill>
              </a:defRPr>
            </a:pPr>
            <a:r>
              <a:t>63.1% vs 55.1% nacional. La diferencia es mayor en intermedias (hasta 13 puntos más). Se concentran en P5 y P4.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303520"/>
            <a:ext cx="10515600" cy="11887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394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</a:defRPr>
            </a:pPr>
            <a:r>
              <a:t>P1 es la alerta roja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806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C3C3C"/>
                </a:solidFill>
              </a:defRPr>
            </a:pPr>
            <a:r>
              <a:t>Único perfil en descenso (-1.6/elección). Baja claridad de asignación (44%). Sin intervención, 5.9M migrarán a P0.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Estrategias diferenciadas (I)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097280"/>
            <a:ext cx="1645920" cy="4572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Perfil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40280" y="1097280"/>
            <a:ext cx="1371600" cy="4572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31720" y="11430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Objetivo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1097280"/>
            <a:ext cx="2103120" cy="4572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49040" y="11430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Mensaje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06440" y="1097280"/>
            <a:ext cx="2103120" cy="4572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97880" y="11430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Canal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1097280"/>
            <a:ext cx="2103120" cy="4572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11430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Momento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04120" y="1097280"/>
            <a:ext cx="1645920" cy="4572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95560" y="11430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Territorio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1737360"/>
            <a:ext cx="16459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1874520"/>
            <a:ext cx="1463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DC3232"/>
                </a:solidFill>
              </a:defRPr>
            </a:pPr>
            <a:r>
              <a:t>P0: Por convencer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40280" y="1737360"/>
            <a:ext cx="13716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31720" y="1874520"/>
            <a:ext cx="1188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Incorporar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0" y="1737360"/>
            <a:ext cx="21031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49040" y="187452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Relevancia personal</a:t>
            </a:r>
            <a:br/>
            <a:r>
              <a:t>(no moralizar)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06440" y="1737360"/>
            <a:ext cx="21031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97880" y="187452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Digital + presencial</a:t>
            </a:r>
            <a:br/>
            <a:r>
              <a:t>urbano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80" y="1737360"/>
            <a:ext cx="21031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0" y="187452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Intermedias</a:t>
            </a:r>
            <a:br/>
            <a:r>
              <a:t>3-4 meses antes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04120" y="1737360"/>
            <a:ext cx="16459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95560" y="1874520"/>
            <a:ext cx="1463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Noroeste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383280"/>
            <a:ext cx="16459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520440"/>
            <a:ext cx="1463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6961E"/>
                </a:solidFill>
              </a:defRPr>
            </a:pPr>
            <a:r>
              <a:t>P1: Constancia que</a:t>
            </a:r>
            <a:br/>
            <a:r>
              <a:t>se apaga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240280" y="3383280"/>
            <a:ext cx="13716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31720" y="3520440"/>
            <a:ext cx="1188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Reactivar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0" y="3383280"/>
            <a:ext cx="21031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49040" y="352044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Resultados tangibles</a:t>
            </a:r>
            <a:br/>
            <a:r>
              <a:t>de su voto pasado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806440" y="3383280"/>
            <a:ext cx="21031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97880" y="352044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Radio, comunidad</a:t>
            </a:r>
            <a:br/>
            <a:r>
              <a:t>Org. civiles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55280" y="3383280"/>
            <a:ext cx="21031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0" y="352044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Continua</a:t>
            </a:r>
            <a:br/>
            <a:r>
              <a:t>(no solo electoral)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04120" y="3383280"/>
            <a:ext cx="16459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95560" y="3520440"/>
            <a:ext cx="1463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Occidente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029200"/>
            <a:ext cx="16459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5166360"/>
            <a:ext cx="1463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2A050"/>
                </a:solidFill>
              </a:defRPr>
            </a:pPr>
            <a:r>
              <a:t>P2: Generación</a:t>
            </a:r>
            <a:br/>
            <a:r>
              <a:t>en ascenso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40280" y="5029200"/>
            <a:ext cx="13716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31720" y="5166360"/>
            <a:ext cx="1188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Sostener en</a:t>
            </a:r>
            <a:br/>
            <a:r>
              <a:t>intermedias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657600" y="5029200"/>
            <a:ext cx="21031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49040" y="516636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Elecciones locales</a:t>
            </a:r>
            <a:br/>
            <a:r>
              <a:t>definen servicios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06440" y="5029200"/>
            <a:ext cx="21031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97880" y="516636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Digital: redes,</a:t>
            </a:r>
            <a:br/>
            <a:r>
              <a:t>video, interactivo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955280" y="5029200"/>
            <a:ext cx="21031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0" y="516636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6 meses antes</a:t>
            </a:r>
            <a:br/>
            <a:r>
              <a:t>de intermedias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104120" y="5029200"/>
            <a:ext cx="16459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195560" y="5166360"/>
            <a:ext cx="1463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Urbano nacional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Estrategias diferenciadas (II)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097280"/>
            <a:ext cx="1645920" cy="4572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Perfil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40280" y="1097280"/>
            <a:ext cx="1371600" cy="4572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31720" y="11430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Objetivo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1097280"/>
            <a:ext cx="2103120" cy="4572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49040" y="11430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Mensaje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06440" y="1097280"/>
            <a:ext cx="2103120" cy="4572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97880" y="11430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Canal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1097280"/>
            <a:ext cx="2103120" cy="4572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11430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Momento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04120" y="1097280"/>
            <a:ext cx="1645920" cy="4572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95560" y="11430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Territorio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1737360"/>
            <a:ext cx="16459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1874520"/>
            <a:ext cx="1463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878B4"/>
                </a:solidFill>
              </a:defRPr>
            </a:pPr>
            <a:r>
              <a:t>P3: Paso firme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40280" y="1737360"/>
            <a:ext cx="13716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31720" y="1874520"/>
            <a:ext cx="1188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Mantener y</a:t>
            </a:r>
            <a:br/>
            <a:r>
              <a:t>multiplicar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0" y="1737360"/>
            <a:ext cx="21031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49040" y="187452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Reconocimiento</a:t>
            </a:r>
            <a:br/>
            <a:r>
              <a:t>Promotor cívico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06440" y="1737360"/>
            <a:ext cx="21031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97880" y="187452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Mixto: TV, radio</a:t>
            </a:r>
            <a:br/>
            <a:r>
              <a:t>+ digital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80" y="1737360"/>
            <a:ext cx="21031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0" y="187452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Continuo con</a:t>
            </a:r>
            <a:br/>
            <a:r>
              <a:t>refuerzo electoral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04120" y="1737360"/>
            <a:ext cx="16459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95560" y="1874520"/>
            <a:ext cx="1463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Occidente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383280"/>
            <a:ext cx="16459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520440"/>
            <a:ext cx="1463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963CB4"/>
                </a:solidFill>
              </a:defRPr>
            </a:pPr>
            <a:r>
              <a:t>P4: Voces que</a:t>
            </a:r>
            <a:br/>
            <a:r>
              <a:t>avanzan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240280" y="3383280"/>
            <a:ext cx="13716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31720" y="3520440"/>
            <a:ext cx="1188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Canalizar</a:t>
            </a:r>
            <a:br/>
            <a:r>
              <a:t>liderazgo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0" y="3383280"/>
            <a:ext cx="21031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49040" y="352044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Empoderar: observadoras</a:t>
            </a:r>
            <a:br/>
            <a:r>
              <a:t>capacitadoras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806440" y="3383280"/>
            <a:ext cx="21031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97880" y="352044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Digital + redes</a:t>
            </a:r>
            <a:br/>
            <a:r>
              <a:t>de mujeres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55280" y="3383280"/>
            <a:ext cx="21031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0" y="352044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Post-presidencial</a:t>
            </a:r>
            <a:br/>
            <a:r>
              <a:t>para intermedias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04120" y="3383280"/>
            <a:ext cx="16459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95560" y="3520440"/>
            <a:ext cx="1463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Nacional</a:t>
            </a:r>
            <a:br/>
            <a:r>
              <a:t>(Tlaxcala piloto)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029200"/>
            <a:ext cx="16459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5166360"/>
            <a:ext cx="1463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C3C3C"/>
                </a:solidFill>
              </a:defRPr>
            </a:pPr>
            <a:r>
              <a:t>P5: Pilar</a:t>
            </a:r>
            <a:br/>
            <a:r>
              <a:t>democrático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40280" y="5029200"/>
            <a:ext cx="13716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31720" y="5166360"/>
            <a:ext cx="1188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Preservar</a:t>
            </a:r>
            <a:br/>
            <a:r>
              <a:t>y transmitir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657600" y="5029200"/>
            <a:ext cx="21031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49040" y="516636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Gratitud institucional</a:t>
            </a:r>
            <a:br/>
            <a:r>
              <a:t>Transmisión intergen.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06440" y="5029200"/>
            <a:ext cx="21031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97880" y="516636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Presencial: radio</a:t>
            </a:r>
            <a:br/>
            <a:r>
              <a:t>comunitaria, brigadas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955280" y="5029200"/>
            <a:ext cx="21031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0" y="516636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Permanente</a:t>
            </a:r>
            <a:br/>
            <a:r>
              <a:t>Casillas accesibles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104120" y="5029200"/>
            <a:ext cx="16459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195560" y="5166360"/>
            <a:ext cx="1463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Rural</a:t>
            </a:r>
            <a:br/>
            <a:r>
              <a:t>Sur-Sureste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Viabilidad y herramientas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10515600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143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6699"/>
                </a:solidFill>
              </a:defRPr>
            </a:pPr>
            <a:r>
              <a:t>Reproducibilidad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43000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C3C3C"/>
                </a:solidFill>
              </a:defRPr>
            </a:pPr>
            <a:r>
              <a:t>código abierto en repositorio con UV (entorno reproducible). 11 notebooks numerados, desde ingesta hasta visualización. Segmentación ejecutable en ~12 segundos.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94560"/>
            <a:ext cx="10515600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6699"/>
                </a:solidFill>
              </a:defRPr>
            </a:pPr>
            <a:r>
              <a:t>Actualización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240280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C3C3C"/>
                </a:solidFill>
              </a:defRPr>
            </a:pPr>
            <a:r>
              <a:t>La metodología se puede reaplicar automáticamente con los datos de futuras elecciones. Solo requiere agregar el nuevo CSV del CCPC.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39"/>
            <a:ext cx="10515600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33755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6699"/>
                </a:solidFill>
              </a:defRPr>
            </a:pPr>
            <a:r>
              <a:t>Mapa interactivo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3337559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C3C3C"/>
                </a:solidFill>
              </a:defRPr>
            </a:pPr>
            <a:r>
              <a:t>Mapa folium con capas municipal y estatal, panel de perfiles con gráficos SVG comparativos. Explorable por cualquier funcionario del INE sin software especial.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389120"/>
            <a:ext cx="10515600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434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6699"/>
                </a:solidFill>
              </a:defRPr>
            </a:pPr>
            <a:r>
              <a:t>Fichas de perfil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434840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C3C3C"/>
                </a:solidFill>
              </a:defRPr>
            </a:pPr>
            <a:r>
              <a:t>PNG y PDF de alta resolución (200 dpi) con trayectoria, métricas, distribución demográfica, escolaridad, internet, subperfiles y mapa de presencia territorial.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486400"/>
            <a:ext cx="10515600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5321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6699"/>
                </a:solidFill>
              </a:defRPr>
            </a:pPr>
            <a:r>
              <a:t>27 subperfiles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5532120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C3C3C"/>
                </a:solidFill>
              </a:defRPr>
            </a:pPr>
            <a:r>
              <a:t>Microtargeting territorial: cada subperfil con municipio dominante, entidad de sobrerrepresentación y persona-tipo (sexo x edad).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Conclusión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103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6 perfiles estables (ARI 0.98) que capturan nivel Y forma de participación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La baja participación es urbana y joven, no rural ni marginada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383279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52% de la población pierde 14-20 puntos en intermedias vs presidenciales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023359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P1 (5.9M) es el único perfil en descenso: requiere intervención urgente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663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Estrategia diferenciada por perfil: mensaje, canal, momento y territorio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303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Herramientas reproducibles y actualizables para el 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6BEDC"/>
                </a:solidFill>
              </a:defRPr>
            </a:pPr>
            <a:r>
              <a:t>Hackea la Participación | INE Hackatón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