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Perfiles ciudadanos de</a:t>
            </a:r>
            <a:br/>
            <a:r>
              <a:t>participación electoral en México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4D2F0"/>
                </a:solidFill>
              </a:defRPr>
            </a:pPr>
            <a:r>
              <a:t>Segmentación sociodemográfica basada en datos del CCPC 2009-2024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6BEDC"/>
                </a:solidFill>
              </a:defRPr>
            </a:pPr>
            <a:r>
              <a:t>Reto 1 | Hackea la Participación: Datos que construyen democracia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DCF0"/>
                </a:solidFill>
              </a:defRPr>
            </a:pPr>
            <a:r>
              <a:t>Ángel David Durazo Bartolini  |  Jehú Jonathan Ramírez Ramírez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2AAC8"/>
                </a:solidFill>
              </a:defRPr>
            </a:pPr>
            <a:r>
              <a:t>INE Hackatón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Contexto y objetivo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</a:defRPr>
            </a:pPr>
            <a: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Presidenciales: ~60% de participación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Intermedias: ~47% de participación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Brecha de 13 puntos que no afecta a todos por igual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¿Qué tipos de ciudadanía existen según cómo participan?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02920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</a:defRPr>
            </a:pPr>
            <a:r>
              <a:t>Nuestro enfoque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01168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657,497 celdas sociodemográficas (sección x sexo x edad)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71.2 millones de personas (LN 2024)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6 elecciones federales (2009-2024)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Segmentación por conducta electoral, no por demografía</a:t>
            </a:r>
          </a:p>
          <a:p>
            <a:pPr>
              <a:spcAft>
                <a:spcPts val="600"/>
              </a:spcAft>
              <a:defRPr sz="1600">
                <a:solidFill>
                  <a:srgbClr val="3C3C3C"/>
                </a:solidFill>
              </a:defRPr>
            </a:pPr>
            <a:r>
              <a:t>6 perfiles con estrategias diferenciadas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Datos y variables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CCPC Federal</a:t>
            </a:r>
            <a:br/>
            <a:r>
              <a:t>2009-2024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C3C3C"/>
                </a:solidFill>
              </a:defRPr>
            </a:pPr>
            <a:r>
              <a:t>54.9M filas</a:t>
            </a:r>
            <a:br/>
            <a:r>
              <a:t>6 elecciones</a:t>
            </a:r>
            <a:br/>
            <a:r>
              <a:t>32 entidades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6699"/>
                </a:solidFill>
              </a:defRPr>
            </a:pPr>
            <a:r>
              <a:t>Tasas de participación</a:t>
            </a:r>
            <a:br/>
            <a:r>
              <a:t>por celda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18872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137160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CCPC PJ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21031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C3C3C"/>
                </a:solidFill>
              </a:defRPr>
            </a:pPr>
            <a:r>
              <a:t>9.8M filas</a:t>
            </a:r>
            <a:br/>
            <a:r>
              <a:t>31 entidades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2926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6699"/>
                </a:solidFill>
              </a:defRPr>
            </a:pPr>
            <a:r>
              <a:t>Descriptor</a:t>
            </a:r>
            <a:br/>
            <a:r>
              <a:t>complementario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8872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37160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ECEG 2020</a:t>
            </a:r>
            <a:br/>
            <a:r>
              <a:t>(INEGI-INE)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1031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C3C3C"/>
                </a:solidFill>
              </a:defRPr>
            </a:pPr>
            <a:r>
              <a:t>68,806 secciones</a:t>
            </a:r>
            <a:br/>
            <a:r>
              <a:t>220 indicadores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926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6699"/>
                </a:solidFill>
              </a:defRPr>
            </a:pPr>
            <a:r>
              <a:t>Escolaridad e internet</a:t>
            </a:r>
            <a:br/>
            <a:r>
              <a:t>por sección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118872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0" y="137160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t>Marco</a:t>
            </a:r>
            <a:br/>
            <a:r>
              <a:t>geoestadístico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21031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C3C3C"/>
                </a:solidFill>
              </a:defRPr>
            </a:pPr>
            <a:r>
              <a:t>2,475 municipios</a:t>
            </a:r>
            <a:br/>
            <a:r>
              <a:t>SHP CONABIO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926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6699"/>
                </a:solidFill>
              </a:defRPr>
            </a:pPr>
            <a:r>
              <a:t>Cartografía</a:t>
            </a:r>
            <a:br/>
            <a:r>
              <a:t>para mapas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</a:defRPr>
            </a:pPr>
            <a:r>
              <a:t>Indicadores por celda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754880"/>
            <a:ext cx="25603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846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6699"/>
                </a:solidFill>
              </a:defRPr>
            </a:pPr>
            <a:r>
              <a:t>Promedio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3949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C3C3C"/>
                </a:solidFill>
              </a:defRPr>
            </a:pPr>
            <a:r>
              <a:t>Media de 6 tasas electorales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66160" y="4754880"/>
            <a:ext cx="25603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49040" y="4846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6699"/>
                </a:solidFill>
              </a:defRPr>
            </a:pPr>
            <a:r>
              <a:t>Brecha presidencial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53949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C3C3C"/>
                </a:solidFill>
              </a:defRPr>
            </a:pPr>
            <a:r>
              <a:t>Presidenciales - intermedias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754880"/>
            <a:ext cx="25603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4846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6699"/>
                </a:solidFill>
              </a:defRPr>
            </a:pPr>
            <a:r>
              <a:t>Tendencia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3949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C3C3C"/>
                </a:solidFill>
              </a:defRPr>
            </a:pPr>
            <a:r>
              <a:t>Cambio por elección (pp)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35440" y="4754880"/>
            <a:ext cx="25603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4846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6699"/>
                </a:solidFill>
              </a:defRPr>
            </a:pPr>
            <a:r>
              <a:t>Desviación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53949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C3C3C"/>
                </a:solidFill>
              </a:defRPr>
            </a:pPr>
            <a:r>
              <a:t>Estabilidad entre elecciones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Metodología: cómo encontramos los perfiles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2560320" cy="2926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6699"/>
                </a:solidFill>
              </a:defRPr>
            </a:pPr>
            <a:r>
              <a:t>1. Lo que probamos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C3C3C"/>
                </a:solidFill>
              </a:defRPr>
            </a:pPr>
            <a:r>
              <a:t>Más de 4,400 variantes</a:t>
            </a:r>
            <a:br/>
            <a:r>
              <a:t>de agrupamiento:</a:t>
            </a:r>
            <a:br/>
            <a:r>
              <a:t>K-Means, mezclas,</a:t>
            </a:r>
            <a:br/>
            <a:r>
              <a:t>jerárquico, densidad,</a:t>
            </a:r>
            <a:br/>
            <a:r>
              <a:t>UMAP y t-SNE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1188720"/>
            <a:ext cx="2560320" cy="2926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0" y="1371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6699"/>
                </a:solidFill>
              </a:defRPr>
            </a:pPr>
            <a:r>
              <a:t>2. Lo que aprendimos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40" y="20116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C3C3C"/>
                </a:solidFill>
              </a:defRPr>
            </a:pPr>
            <a:r>
              <a:t>Los métodos clásicos</a:t>
            </a:r>
            <a:br/>
            <a:r>
              <a:t>solo separan cuánto</a:t>
            </a:r>
            <a:br/>
            <a:r>
              <a:t>vota la gente.</a:t>
            </a:r>
            <a:br/>
            <a:r>
              <a:t>No ven cómo vota:</a:t>
            </a:r>
            <a:br/>
            <a:r>
              <a:t>estable o solo en</a:t>
            </a:r>
            <a:br/>
            <a:r>
              <a:t>presidenciales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188720"/>
            <a:ext cx="2560320" cy="2926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371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6699"/>
                </a:solidFill>
              </a:defRPr>
            </a:pPr>
            <a:r>
              <a:t>3. Lo que elegimos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0116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C3C3C"/>
                </a:solidFill>
              </a:defRPr>
            </a:pPr>
            <a:r>
              <a:t>Clases latentes:</a:t>
            </a:r>
            <a:br/>
            <a:r>
              <a:t>cada elección se marca</a:t>
            </a:r>
            <a:br/>
            <a:r>
              <a:t>baja, media o alta</a:t>
            </a:r>
            <a:br/>
            <a:r>
              <a:t>frente al resto del país</a:t>
            </a:r>
            <a:br/>
            <a:r>
              <a:t>y el modelo agrupa</a:t>
            </a:r>
            <a:br/>
            <a:r>
              <a:t>los patrones que</a:t>
            </a:r>
            <a:br/>
            <a:r>
              <a:t>más se repiten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188720"/>
            <a:ext cx="2560320" cy="2926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0" y="13716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6699"/>
                </a:solidFill>
              </a:defRPr>
            </a:pPr>
            <a:r>
              <a:t>4. Qué tan confiable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201168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C3C3C"/>
                </a:solidFill>
              </a:defRPr>
            </a:pPr>
            <a:r>
              <a:t>Al repetir el análisis</a:t>
            </a:r>
            <a:br/>
            <a:r>
              <a:t>con datos remuestreados,</a:t>
            </a:r>
            <a:br/>
            <a:r>
              <a:t>los perfiles salen</a:t>
            </a:r>
            <a:br/>
            <a:r>
              <a:t>casi idénticos</a:t>
            </a:r>
            <a:br/>
            <a:r>
              <a:t>(0.98 de 1).</a:t>
            </a:r>
            <a:br/>
            <a:r>
              <a:t>7 de cada 10 personas</a:t>
            </a:r>
            <a:br/>
            <a:r>
              <a:t>caen claramente</a:t>
            </a:r>
            <a:br/>
            <a:r>
              <a:t>en un perfil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343400"/>
            <a:ext cx="46634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6"/>
              </a:spcAft>
              <a:defRPr sz="1300" b="0">
                <a:solidFill>
                  <a:srgbClr val="3C3C3C"/>
                </a:solidFill>
              </a:defRPr>
            </a:pPr>
            <a:r>
              <a:t>Mismo promedio, historias opuestas. P1 y P2 votan alrededor de 50%, pero P1 va a la baja y P2 crece y se dispara en presidenciales. Necesitan estrategias distintas: el método debía ver la forma de la trayectoria, no solo el nivel.</a:t>
            </a:r>
          </a:p>
          <a:p>
            <a:pPr algn="l">
              <a:spcAft>
                <a:spcPts val="576"/>
              </a:spcAft>
              <a:defRPr sz="1300" b="0">
                <a:solidFill>
                  <a:srgbClr val="3C3C3C"/>
                </a:solidFill>
              </a:defRPr>
            </a:pPr>
            <a:r>
              <a:t>Edad, sexo, escolaridad y región se usan después para describir los perfiles: al meterlas como entrada, el algoritmo solo separaba hombres de mujeres.</a:t>
            </a:r>
          </a:p>
        </p:txBody>
      </p:sp>
      <p:pic>
        <p:nvPicPr>
          <p:cNvPr id="16" name="Picture 15" descr="trayector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343400"/>
            <a:ext cx="566928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6 perfiles ciudadanos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14400"/>
            <a:ext cx="169164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691640" cy="137160"/>
          </a:xfrm>
          <a:prstGeom prst="rect">
            <a:avLst/>
          </a:prstGeom>
          <a:solidFill>
            <a:srgbClr val="DC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C3232"/>
                </a:solidFill>
              </a:defRPr>
            </a:pPr>
            <a:r>
              <a:t>P0: Por convencer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15.3M (21%)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Participación 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C3232"/>
                </a:solidFill>
              </a:defRPr>
            </a:pPr>
            <a:r>
              <a:t>37.3%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8892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Extra en presidenciales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7180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C3232"/>
                </a:solidFill>
              </a:defRPr>
            </a:pPr>
            <a:r>
              <a:t>+14.3 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Cambio por elección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7472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C3232"/>
                </a:solidFill>
              </a:defRPr>
            </a:pPr>
            <a:r>
              <a:t>+1.1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1508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C3C3C"/>
                </a:solidFill>
              </a:defRPr>
            </a:pPr>
            <a:r>
              <a:t>75% hombres</a:t>
            </a:r>
            <a:br/>
            <a:r>
              <a:t>87% &lt; 40 años</a:t>
            </a:r>
            <a:br/>
            <a:r>
              <a:t>Noroeste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13432" y="914400"/>
            <a:ext cx="169164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13432" y="914400"/>
            <a:ext cx="1691640" cy="137160"/>
          </a:xfrm>
          <a:prstGeom prst="rect">
            <a:avLst/>
          </a:prstGeom>
          <a:solidFill>
            <a:srgbClr val="E69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04872" y="109728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6961E"/>
                </a:solidFill>
              </a:defRPr>
            </a:pPr>
            <a:r>
              <a:t>P1: Constancia</a:t>
            </a:r>
            <a:br/>
            <a:r>
              <a:t>que se apaga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04872" y="182880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5.9M (8%)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04872" y="228600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Participación media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04872" y="24688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6961E"/>
                </a:solidFill>
              </a:defRPr>
            </a:pPr>
            <a:r>
              <a:t>48.5%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04872" y="278892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Extra en presidenciales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4872" y="297180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6961E"/>
                </a:solidFill>
              </a:defRPr>
            </a:pPr>
            <a:r>
              <a:t>+7.6 pts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04872" y="329184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Cambio por elección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04872" y="347472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6961E"/>
                </a:solidFill>
              </a:defRPr>
            </a:pPr>
            <a:r>
              <a:t>-1.6 pts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04872" y="4114800"/>
            <a:ext cx="1508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C3C3C"/>
                </a:solidFill>
              </a:defRPr>
            </a:pPr>
            <a:r>
              <a:t>56% hombres</a:t>
            </a:r>
            <a:br/>
            <a:r>
              <a:t>Occidente</a:t>
            </a:r>
            <a:br/>
            <a:r>
              <a:t>En descenso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69664" y="914400"/>
            <a:ext cx="169164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69664" y="914400"/>
            <a:ext cx="1691640" cy="137160"/>
          </a:xfrm>
          <a:prstGeom prst="rect">
            <a:avLst/>
          </a:prstGeom>
          <a:solidFill>
            <a:srgbClr val="32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61104" y="109728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2A050"/>
                </a:solidFill>
              </a:defRPr>
            </a:pPr>
            <a:r>
              <a:t>P2: Generación</a:t>
            </a:r>
            <a:br/>
            <a:r>
              <a:t>en ascenso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61104" y="182880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13.3M (19%)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1104" y="228600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Participación media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1104" y="24688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2A050"/>
                </a:solidFill>
              </a:defRPr>
            </a:pPr>
            <a:r>
              <a:t>50.5%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61104" y="278892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Extra en presidenciales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61104" y="297180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2A050"/>
                </a:solidFill>
              </a:defRPr>
            </a:pPr>
            <a:r>
              <a:t>+18.4 pts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1104" y="329184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Cambio por elección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61104" y="347472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2A050"/>
                </a:solidFill>
              </a:defRPr>
            </a:pPr>
            <a:r>
              <a:t>+3.0 pts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1104" y="4114800"/>
            <a:ext cx="1508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C3C3C"/>
                </a:solidFill>
              </a:defRPr>
            </a:pPr>
            <a:r>
              <a:t>53% mujeres</a:t>
            </a:r>
            <a:br/>
            <a:r>
              <a:t>66% &lt; 40</a:t>
            </a:r>
            <a:br/>
            <a:r>
              <a:t>Urbano, más internet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25896" y="914400"/>
            <a:ext cx="169164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25896" y="914400"/>
            <a:ext cx="1691640" cy="137160"/>
          </a:xfrm>
          <a:prstGeom prst="rect">
            <a:avLst/>
          </a:prstGeom>
          <a:solidFill>
            <a:srgbClr val="28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17336" y="109728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878B4"/>
                </a:solidFill>
              </a:defRPr>
            </a:pPr>
            <a:r>
              <a:t>P3: Paso firme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17336" y="182880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11.6M (16%)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17336" y="228600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Participación media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17336" y="24688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878B4"/>
                </a:solidFill>
              </a:defRPr>
            </a:pPr>
            <a:r>
              <a:t>60.3%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17336" y="278892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Extra en presidenciales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17336" y="297180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878B4"/>
                </a:solidFill>
              </a:defRPr>
            </a:pPr>
            <a:r>
              <a:t>+9.3 pts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17336" y="329184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Cambio por elección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17336" y="347472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878B4"/>
                </a:solidFill>
              </a:defRPr>
            </a:pPr>
            <a:r>
              <a:t>-0.1 pts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17336" y="4114800"/>
            <a:ext cx="1508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C3C3C"/>
                </a:solidFill>
              </a:defRPr>
            </a:pPr>
            <a:r>
              <a:t>57% mujeres</a:t>
            </a:r>
            <a:br/>
            <a:r>
              <a:t>40-49 años</a:t>
            </a:r>
            <a:br/>
            <a:r>
              <a:t>Occidente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82128" y="914400"/>
            <a:ext cx="169164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82128" y="914400"/>
            <a:ext cx="1691640" cy="137160"/>
          </a:xfrm>
          <a:prstGeom prst="rect">
            <a:avLst/>
          </a:prstGeom>
          <a:solidFill>
            <a:srgbClr val="963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73568" y="109728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63CB4"/>
                </a:solidFill>
              </a:defRPr>
            </a:pPr>
            <a:r>
              <a:t>P4: Voces que</a:t>
            </a:r>
            <a:br/>
            <a:r>
              <a:t>avanzan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73568" y="182880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8.4M (12%)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73568" y="228600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Participación media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73568" y="24688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963CB4"/>
                </a:solidFill>
              </a:defRPr>
            </a:pPr>
            <a:r>
              <a:t>62.0%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73568" y="278892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Extra en presidenciales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73568" y="297180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963CB4"/>
                </a:solidFill>
              </a:defRPr>
            </a:pPr>
            <a:r>
              <a:t>+19.5 pts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73568" y="329184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Cambio por elección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3568" y="347472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963CB4"/>
                </a:solidFill>
              </a:defRPr>
            </a:pPr>
            <a:r>
              <a:t>+4.5 pts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73568" y="4114800"/>
            <a:ext cx="1508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C3C3C"/>
                </a:solidFill>
              </a:defRPr>
            </a:pPr>
            <a:r>
              <a:t>68% mujeres</a:t>
            </a:r>
            <a:br/>
            <a:r>
              <a:t>Zonas de mayor</a:t>
            </a:r>
            <a:br/>
            <a:r>
              <a:t>escolaridad</a:t>
            </a:r>
            <a:br/>
            <a:r>
              <a:t>Mayor crecimiento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738360" y="914400"/>
            <a:ext cx="169164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738360" y="914400"/>
            <a:ext cx="1691640" cy="137160"/>
          </a:xfrm>
          <a:prstGeom prst="rect">
            <a:avLst/>
          </a:prstGeom>
          <a:solidFill>
            <a:srgbClr val="3C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9800" y="1097280"/>
            <a:ext cx="1508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C3C3C"/>
                </a:solidFill>
              </a:defRPr>
            </a:pPr>
            <a:r>
              <a:t>P5: Pilar</a:t>
            </a:r>
            <a:br/>
            <a:r>
              <a:t>democrático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800" y="182880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16.7M (24%)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29800" y="228600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Participación media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29800" y="246888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C3C3C"/>
                </a:solidFill>
              </a:defRPr>
            </a:pPr>
            <a:r>
              <a:t>72.8%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29800" y="278892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Extra en presidenciales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829800" y="297180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C3C3C"/>
                </a:solidFill>
              </a:defRPr>
            </a:pPr>
            <a:r>
              <a:t>+10.6 pts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29800" y="3291840"/>
            <a:ext cx="1508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6699"/>
                </a:solidFill>
              </a:defRPr>
            </a:pPr>
            <a:r>
              <a:t>Cambio por elección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29800" y="3474720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C3C3C"/>
                </a:solidFill>
              </a:defRPr>
            </a:pPr>
            <a:r>
              <a:t>+1.8 pts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29800" y="4114800"/>
            <a:ext cx="1508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C3C3C"/>
                </a:solidFill>
              </a:defRPr>
            </a:pPr>
            <a:r>
              <a:t>69% mujeres</a:t>
            </a:r>
            <a:br/>
            <a:r>
              <a:t>50-59 años</a:t>
            </a:r>
            <a:br/>
            <a:r>
              <a:t>El más rural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Hallazgos clave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La baja participación es URBANA y JOVEN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</a:defRPr>
            </a:pPr>
            <a:r>
              <a:t>P0 tiene solo 4-5% de su población en municipios de alta marginación. Las zonas rurales e indígenas participan más que el promedio.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105156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La brecha presidencial-intermedia es el problema central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</a:defRPr>
            </a:pPr>
            <a:r>
              <a:t>P0, P2 y P4 (52% de la población) pierden 14-20 puntos en intermedias. El reto no es incorporar, sino sostener.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5156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23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Las secciones indígenas participan más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34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</a:defRPr>
            </a:pPr>
            <a:r>
              <a:t>63.1% contra 55.1% del resto de las secciones. La diferencia es mayor en intermedias (hasta 13 puntos). Se concentran en P5 y P4.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03520"/>
            <a:ext cx="105156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</a:defRPr>
            </a:pPr>
            <a:r>
              <a:t>P1 es la señal de alerta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806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C3C3C"/>
                </a:solidFill>
              </a:defRPr>
            </a:pPr>
            <a:r>
              <a:t>Único perfil en descenso (-1.6 pts por elección). Solo 44% pertenece claramente al perfil: población en transición que podría derivar hacia P0.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Estrategias diferenciadas (I)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97280"/>
            <a:ext cx="16459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Perfil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1097280"/>
            <a:ext cx="137160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31720" y="11430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Objetivo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097280"/>
            <a:ext cx="21031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1143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Mensaje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1097280"/>
            <a:ext cx="21031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97880" y="1143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Canal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097280"/>
            <a:ext cx="21031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1143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Momento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04120" y="1097280"/>
            <a:ext cx="16459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95560" y="11430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Territorio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3736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87452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DC3232"/>
                </a:solidFill>
              </a:defRPr>
            </a:pPr>
            <a:r>
              <a:t>P0: Por convencer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40280" y="1737360"/>
            <a:ext cx="1371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31720" y="187452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Incorporar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173736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0" y="187452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Relevancia personal</a:t>
            </a:r>
            <a:br/>
            <a:r>
              <a:t>(no moralizar)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73736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7880" y="187452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Digital + presencial</a:t>
            </a:r>
            <a:br/>
            <a:r>
              <a:t>urbano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80" y="173736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187452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Intermedias</a:t>
            </a:r>
            <a:br/>
            <a:r>
              <a:t>3-4 meses antes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04120" y="173736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95560" y="187452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Noroeste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38328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52044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6961E"/>
                </a:solidFill>
              </a:defRPr>
            </a:pPr>
            <a:r>
              <a:t>P1: Constancia que</a:t>
            </a:r>
            <a:br/>
            <a:r>
              <a:t>se apaga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40280" y="3383280"/>
            <a:ext cx="1371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31720" y="352044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Reactivar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0" y="338328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49040" y="352044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Resultados tangibles</a:t>
            </a:r>
            <a:br/>
            <a:r>
              <a:t>de su voto pasado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06440" y="338328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97880" y="352044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Radio, comunidad</a:t>
            </a:r>
            <a:br/>
            <a:r>
              <a:t>Org. civiles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80" y="338328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352044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Continua</a:t>
            </a:r>
            <a:br/>
            <a:r>
              <a:t>(no solo electoral)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04120" y="338328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95560" y="352044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Occidente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02920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16636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2A050"/>
                </a:solidFill>
              </a:defRPr>
            </a:pPr>
            <a:r>
              <a:t>P2: Generación</a:t>
            </a:r>
            <a:br/>
            <a:r>
              <a:t>en ascenso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40280" y="5029200"/>
            <a:ext cx="1371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31720" y="516636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Sostener en</a:t>
            </a:r>
            <a:br/>
            <a:r>
              <a:t>intermedias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657600" y="502920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49040" y="51663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Elecciones locales</a:t>
            </a:r>
            <a:br/>
            <a:r>
              <a:t>definen servicios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06440" y="502920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97880" y="51663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Digital: redes,</a:t>
            </a:r>
            <a:br/>
            <a:r>
              <a:t>video, interactivo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955280" y="502920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0" y="51663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6 meses antes</a:t>
            </a:r>
            <a:br/>
            <a:r>
              <a:t>de intermedias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04120" y="502920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95560" y="516636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Urbano nacional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Estrategias diferenciadas (II)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97280"/>
            <a:ext cx="16459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Perfil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1097280"/>
            <a:ext cx="137160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31720" y="11430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Objetivo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097280"/>
            <a:ext cx="21031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1143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Mensaje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1097280"/>
            <a:ext cx="21031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97880" y="1143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Canal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097280"/>
            <a:ext cx="21031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11430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Momento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04120" y="1097280"/>
            <a:ext cx="1645920" cy="457200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95560" y="11430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Territorio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3736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87452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878B4"/>
                </a:solidFill>
              </a:defRPr>
            </a:pPr>
            <a:r>
              <a:t>P3: Paso firme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40280" y="1737360"/>
            <a:ext cx="1371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31720" y="187452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Mantener y</a:t>
            </a:r>
            <a:br/>
            <a:r>
              <a:t>multiplicar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173736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0" y="187452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Reconocimiento</a:t>
            </a:r>
            <a:br/>
            <a:r>
              <a:t>Promotor cívico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06440" y="173736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7880" y="187452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Mixto: TV, radio</a:t>
            </a:r>
            <a:br/>
            <a:r>
              <a:t>+ digital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80" y="173736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187452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Continuo con</a:t>
            </a:r>
            <a:br/>
            <a:r>
              <a:t>refuerzo electoral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04120" y="173736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95560" y="187452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Occidente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38328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52044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963CB4"/>
                </a:solidFill>
              </a:defRPr>
            </a:pPr>
            <a:r>
              <a:t>P4: Voces que</a:t>
            </a:r>
            <a:br/>
            <a:r>
              <a:t>avanzan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40280" y="3383280"/>
            <a:ext cx="1371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31720" y="352044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Canalizar</a:t>
            </a:r>
            <a:br/>
            <a:r>
              <a:t>liderazgo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0" y="338328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49040" y="352044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Empoderar: observadoras</a:t>
            </a:r>
            <a:br/>
            <a:r>
              <a:t>capacitadoras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06440" y="338328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97880" y="352044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Digital + redes</a:t>
            </a:r>
            <a:br/>
            <a:r>
              <a:t>de mujeres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80" y="338328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352044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Post-presidencial</a:t>
            </a:r>
            <a:br/>
            <a:r>
              <a:t>para intermedias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04120" y="338328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95560" y="352044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Nacional</a:t>
            </a:r>
            <a:br/>
            <a:r>
              <a:t>(Tlaxcala piloto)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02920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16636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C3C3C"/>
                </a:solidFill>
              </a:defRPr>
            </a:pPr>
            <a:r>
              <a:t>P5: Pilar</a:t>
            </a:r>
            <a:br/>
            <a:r>
              <a:t>democrático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40280" y="5029200"/>
            <a:ext cx="13716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31720" y="5166360"/>
            <a:ext cx="1188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Preservar</a:t>
            </a:r>
            <a:br/>
            <a:r>
              <a:t>y transmitir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657600" y="502920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49040" y="51663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Gratitud institucional</a:t>
            </a:r>
            <a:br/>
            <a:r>
              <a:t>Transmisión intergen.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06440" y="502920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97880" y="51663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Presencial: radio</a:t>
            </a:r>
            <a:br/>
            <a:r>
              <a:t>comunitaria, brigadas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955280" y="5029200"/>
            <a:ext cx="21031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0" y="516636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Permanente</a:t>
            </a:r>
            <a:br/>
            <a:r>
              <a:t>Casillas accesibles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04120" y="5029200"/>
            <a:ext cx="164592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95560" y="5166360"/>
            <a:ext cx="1463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C3C3C"/>
                </a:solidFill>
              </a:defRPr>
            </a:pPr>
            <a:r>
              <a:t>Rural</a:t>
            </a:r>
            <a:br/>
            <a:r>
              <a:t>Sur-Sureste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3366"/>
                </a:solidFill>
              </a:defRPr>
            </a:pPr>
            <a:r>
              <a:t>Viabilidad y herramientas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51560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143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99"/>
                </a:solidFill>
              </a:defRPr>
            </a:pPr>
            <a:r>
              <a:t>Reproducibilidad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43000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C3C3C"/>
                </a:solidFill>
              </a:defRPr>
            </a:pPr>
            <a:r>
              <a:t>Código abierto con entorno reproducible. 11 notebooks numerados, de la descarga de datos a las visualizaciones. La segmentación se ejecuta en ~12 segundos.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51560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99"/>
                </a:solidFill>
              </a:defRPr>
            </a:pPr>
            <a:r>
              <a:t>Actualización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240280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C3C3C"/>
                </a:solidFill>
              </a:defRPr>
            </a:pPr>
            <a:r>
              <a:t>La metodología se puede reaplicar automáticamente con los datos de futuras elecciones. Solo requiere agregar el nuevo CSV del CCPC.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39"/>
            <a:ext cx="1051560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99"/>
                </a:solidFill>
              </a:defRPr>
            </a:pPr>
            <a:r>
              <a:t>Mapa interactivo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337559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C3C3C"/>
                </a:solidFill>
              </a:defRPr>
            </a:pPr>
            <a:r>
              <a:t>Mapa web con capas municipal y estatal y panel comparativo de perfiles. Se abre en cualquier navegador, sin software especial.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89120"/>
            <a:ext cx="1051560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99"/>
                </a:solidFill>
              </a:defRPr>
            </a:pPr>
            <a:r>
              <a:t>Fichas de perfil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434840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C3C3C"/>
                </a:solidFill>
              </a:defRPr>
            </a:pPr>
            <a:r>
              <a:t>PNG y PDF de alta resolución (200 dpi) con trayectoria, métricas, distribución demográfica, escolaridad, internet, subperfiles y mapa de presencia territorial.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486400"/>
            <a:ext cx="10515600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532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6699"/>
                </a:solidFill>
              </a:defRPr>
            </a:pPr>
            <a:r>
              <a:t>27 subperfiles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5532120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C3C3C"/>
                </a:solidFill>
              </a:defRPr>
            </a:pPr>
            <a:r>
              <a:t>Focalización territorial: cada subperfil con su municipio dominante, entidades donde está sobrerrepresentado y combinación típica de sexo y edad.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Conclusión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6 perfiles que se reproducen casi idénticos y capturan cuánto y cómo vota la 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La baja participación es urbana y joven, no rural ni marginada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38327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52% de la población pierde 14-20 puntos en intermedias vs presidenciales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59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P1 (5.9M) es el único perfil en descenso: conviene intervenir pronto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Estrategia diferenciada por perfil: mensaje, canal, momento y territorio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303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Herramientas reproducibles y actualizables para el 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6BEDC"/>
                </a:solidFill>
              </a:defRPr>
            </a:pPr>
            <a:r>
              <a:t>Hackea la Participación | INE Hackatón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