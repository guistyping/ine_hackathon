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Perfiles ciudadanos de</a:t>
            </a:r>
            <a:br/>
            <a:r>
              <a:t>participación electoral en México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D2F0"/>
                </a:solidFill>
              </a:defRPr>
            </a:pPr>
            <a:r>
              <a:t>Segmentación sociodemográfica basada en datos del CCPC 2009-2024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6BEDC"/>
                </a:solidFill>
              </a:defRPr>
            </a:pPr>
            <a:r>
              <a:t>Reto 1 | Hackea la Participación: Datos que construyen democracia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2AAC8"/>
                </a:solidFill>
              </a:defRPr>
            </a:pPr>
            <a:r>
              <a:t>INE Hackatón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Contexto y objetivo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t>Presidenciales: ~60% de participación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t>Intermedias: ~47% de participación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t>Brecha de 13 puntos que no afecta a todos por igual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t>Las estrategias genéricas no funcionan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Nuestro enfoque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t>657,497 celdas sociodemográficas (sección x sexo x edad)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t>71.2 millones de personas (LN 2024)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t>6 elecciones federales (2009-2024)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t>Segmentación por conducta electoral, no por demografía</a:t>
            </a:r>
          </a:p>
          <a:p>
            <a:pPr>
              <a:spcAft>
                <a:spcPts val="600"/>
              </a:spcAft>
              <a:defRPr sz="1600">
                <a:solidFill>
                  <a:srgbClr val="3C3C3C"/>
                </a:solidFill>
              </a:defRPr>
            </a:pPr>
            <a:r>
              <a:t>6 perfiles con estrategias diferenciadas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Datos y variables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CCPC Federal</a:t>
            </a:r>
            <a:br/>
            <a:r>
              <a:t>2009-2024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3C3C"/>
                </a:solidFill>
              </a:defRPr>
            </a:pPr>
            <a:r>
              <a:t>54.9M filas</a:t>
            </a:r>
            <a:br/>
            <a:r>
              <a:t>6 elecciones</a:t>
            </a:r>
            <a:br/>
            <a:r>
              <a:t>32 entidades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99"/>
                </a:solidFill>
              </a:defRPr>
            </a:pPr>
            <a:r>
              <a:t>Tasas de participación</a:t>
            </a:r>
            <a:br/>
            <a:r>
              <a:t>por celda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18872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371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CCPC PJ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3C3C"/>
                </a:solidFill>
              </a:defRPr>
            </a:pPr>
            <a:r>
              <a:t>9.8M filas</a:t>
            </a:r>
            <a:br/>
            <a:r>
              <a:t>31 entidades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99"/>
                </a:solidFill>
              </a:defRPr>
            </a:pPr>
            <a:r>
              <a:t>Descriptor</a:t>
            </a:r>
            <a:br/>
            <a:r>
              <a:t>complementario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71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ECEG 2020</a:t>
            </a:r>
            <a:br/>
            <a:r>
              <a:t>(INEGI-INE)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3C3C"/>
                </a:solidFill>
              </a:defRPr>
            </a:pPr>
            <a:r>
              <a:t>68,806 secciones</a:t>
            </a:r>
            <a:br/>
            <a:r>
              <a:t>220 indicadores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99"/>
                </a:solidFill>
              </a:defRPr>
            </a:pPr>
            <a:r>
              <a:t>Escolaridad e internet</a:t>
            </a:r>
            <a:br/>
            <a:r>
              <a:t>por sección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188720"/>
            <a:ext cx="2560320" cy="2560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37160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Marco</a:t>
            </a:r>
            <a:br/>
            <a:r>
              <a:t>geoestadístico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3C3C"/>
                </a:solidFill>
              </a:defRPr>
            </a:pPr>
            <a:r>
              <a:t>2,475 municipios</a:t>
            </a:r>
            <a:br/>
            <a:r>
              <a:t>SHP CONABIO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6699"/>
                </a:solidFill>
              </a:defRPr>
            </a:pPr>
            <a:r>
              <a:t>Cartografía</a:t>
            </a:r>
            <a:br/>
            <a:r>
              <a:t>para mapas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3366"/>
                </a:solidFill>
              </a:defRPr>
            </a:pPr>
            <a:r>
              <a:t>Indicadores por celda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99"/>
                </a:solidFill>
              </a:defRPr>
            </a:pPr>
            <a:r>
              <a:t>Promedio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94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3C3C"/>
                </a:solidFill>
              </a:defRPr>
            </a:pPr>
            <a:r>
              <a:t>Media de 6 tasas electorales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475488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99"/>
                </a:solidFill>
              </a:defRPr>
            </a:pPr>
            <a:r>
              <a:t>Brecha presidencial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5394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3C3C"/>
                </a:solidFill>
              </a:defRPr>
            </a:pPr>
            <a:r>
              <a:t>Presidenciales - intermedias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75488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99"/>
                </a:solidFill>
              </a:defRPr>
            </a:pPr>
            <a:r>
              <a:t>Tendencia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394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3C3C"/>
                </a:solidFill>
              </a:defRPr>
            </a:pPr>
            <a:r>
              <a:t>Cambio por elección (pp)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4754880"/>
            <a:ext cx="25603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4846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99"/>
                </a:solidFill>
              </a:defRPr>
            </a:pPr>
            <a:r>
              <a:t>Desviación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53949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C3C3C"/>
                </a:solidFill>
              </a:defRPr>
            </a:pPr>
            <a:r>
              <a:t>Estabilidad entre elecciones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Metodología: Análisis de Clases Latentes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99"/>
                </a:solidFill>
              </a:defRPr>
            </a:pPr>
            <a:r>
              <a:t>1. Exploración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C3C3C"/>
                </a:solidFill>
              </a:defRPr>
            </a:pPr>
            <a:r>
              <a:t>2,000+ configuraciones</a:t>
            </a:r>
            <a:br/>
            <a:r>
              <a:t>de clustering evaluadas</a:t>
            </a:r>
            <a:br/>
            <a:r>
              <a:t>(K-Means, GMM, Ward,</a:t>
            </a:r>
            <a:br/>
            <a:r>
              <a:t>HDBSCAN, espectral...)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18872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4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99"/>
                </a:solidFill>
              </a:defRPr>
            </a:pPr>
            <a:r>
              <a:t>2. Decisión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20116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C3C3C"/>
                </a:solidFill>
              </a:defRPr>
            </a:pPr>
            <a:r>
              <a:t>Clustering clásico</a:t>
            </a:r>
            <a:br/>
            <a:r>
              <a:t>separa por NIVEL</a:t>
            </a:r>
            <a:br/>
            <a:r>
              <a:t>(alto/medio/bajo).</a:t>
            </a:r>
            <a:br/>
            <a:r>
              <a:t>No captura la FORMA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99"/>
                </a:solidFill>
              </a:defRPr>
            </a:pPr>
            <a:r>
              <a:t>3. LCA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C3C3C"/>
                </a:solidFill>
              </a:defRPr>
            </a:pPr>
            <a:r>
              <a:t>Terciles por elección</a:t>
            </a:r>
            <a:br/>
            <a:r>
              <a:t>+ mezcla categórica</a:t>
            </a:r>
            <a:br/>
            <a:r>
              <a:t>con EM propio.</a:t>
            </a:r>
            <a:br/>
            <a:r>
              <a:t>Captura nivel Y forma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188720"/>
            <a:ext cx="25603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371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99"/>
                </a:solidFill>
              </a:defRPr>
            </a:pPr>
            <a:r>
              <a:t>4. Validación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01168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C3C3C"/>
                </a:solidFill>
              </a:defRPr>
            </a:pPr>
            <a:r>
              <a:t>ARI bootstrap = 0.98</a:t>
            </a:r>
            <a:br/>
            <a:r>
              <a:t>(mín 0.95, 5 réplicas)</a:t>
            </a:r>
            <a:br/>
            <a:r>
              <a:t>Entropía relativa: 0.78</a:t>
            </a:r>
            <a:br/>
            <a:r>
              <a:t>69% asignación clara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</a:defRPr>
            </a:pPr>
            <a:r>
              <a:t>Ventaja clave: la discretización en terciles por elección normaliza el nivel y permite capturar simultáneamente el patrón temporal (brecha y tendencia). La demografía (edad, sexo, escolaridad, región) se usa como descriptor posterior, no como entrada: los perfiles emergen del comportamiento.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6 perfiles ciudadanos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6916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691640" cy="137160"/>
          </a:xfrm>
          <a:prstGeom prst="rect">
            <a:avLst/>
          </a:prstGeom>
          <a:solidFill>
            <a:srgbClr val="DC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C3232"/>
                </a:solidFill>
              </a:defRPr>
            </a:pPr>
            <a:r>
              <a:t>P0: Por convencer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15.3M (21%)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Prom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3232"/>
                </a:solidFill>
              </a:defRPr>
            </a:pPr>
            <a:r>
              <a:t>37.3%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Brecha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3232"/>
                </a:solidFill>
              </a:defRPr>
            </a:pPr>
            <a:r>
              <a:t>+14.3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747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C3232"/>
                </a:solidFill>
              </a:defRPr>
            </a:pPr>
            <a:r>
              <a:t>+1.1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3C3C"/>
                </a:solidFill>
              </a:defRPr>
            </a:pPr>
            <a:r>
              <a:t>75% hombres</a:t>
            </a:r>
            <a:br/>
            <a:r>
              <a:t>87% &lt; 40 años</a:t>
            </a:r>
            <a:br/>
            <a:r>
              <a:t>Noroeste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13432" y="914400"/>
            <a:ext cx="16916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3432" y="914400"/>
            <a:ext cx="1691640" cy="137160"/>
          </a:xfrm>
          <a:prstGeom prst="rect">
            <a:avLst/>
          </a:prstGeom>
          <a:solidFill>
            <a:srgbClr val="E69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04872" y="109728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961E"/>
                </a:solidFill>
              </a:defRPr>
            </a:pPr>
            <a:r>
              <a:t>P1: Constancia</a:t>
            </a:r>
            <a:br/>
            <a:r>
              <a:t>que se apaga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1828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5.9M (8%)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04872" y="228600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Prom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04872" y="24688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961E"/>
                </a:solidFill>
              </a:defRPr>
            </a:pPr>
            <a:r>
              <a:t>48.5%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04872" y="27889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Brecha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04872" y="29718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961E"/>
                </a:solidFill>
              </a:defRPr>
            </a:pPr>
            <a:r>
              <a:t>+7.6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4872" y="32918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Tend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04872" y="34747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961E"/>
                </a:solidFill>
              </a:defRPr>
            </a:pPr>
            <a:r>
              <a:t>-1.6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4872" y="411480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3C3C"/>
                </a:solidFill>
              </a:defRPr>
            </a:pPr>
            <a:r>
              <a:t>Mixto género</a:t>
            </a:r>
            <a:br/>
            <a:r>
              <a:t>Occidente</a:t>
            </a:r>
            <a:br/>
            <a:r>
              <a:t>En descenso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9664" y="914400"/>
            <a:ext cx="16916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69664" y="914400"/>
            <a:ext cx="1691640" cy="137160"/>
          </a:xfrm>
          <a:prstGeom prst="rect">
            <a:avLst/>
          </a:prstGeom>
          <a:solidFill>
            <a:srgbClr val="32A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61104" y="109728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2A050"/>
                </a:solidFill>
              </a:defRPr>
            </a:pPr>
            <a:r>
              <a:t>P2: Generación</a:t>
            </a:r>
            <a:br/>
            <a:r>
              <a:t>en ascenso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1104" y="1828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13.3M (19%)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1104" y="228600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Prom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1104" y="24688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A050"/>
                </a:solidFill>
              </a:defRPr>
            </a:pPr>
            <a:r>
              <a:t>50.5%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61104" y="27889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Brecha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61104" y="29718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A050"/>
                </a:solidFill>
              </a:defRPr>
            </a:pPr>
            <a:r>
              <a:t>+18.4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61104" y="32918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61104" y="34747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2A050"/>
                </a:solidFill>
              </a:defRPr>
            </a:pPr>
            <a:r>
              <a:t>+3.0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1104" y="411480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3C3C"/>
                </a:solidFill>
              </a:defRPr>
            </a:pPr>
            <a:r>
              <a:t>53% mujeres</a:t>
            </a:r>
            <a:br/>
            <a:r>
              <a:t>66% &lt; 40</a:t>
            </a:r>
            <a:br/>
            <a:r>
              <a:t>Urbano, digital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25896" y="914400"/>
            <a:ext cx="16916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25896" y="914400"/>
            <a:ext cx="1691640" cy="137160"/>
          </a:xfrm>
          <a:prstGeom prst="rect">
            <a:avLst/>
          </a:prstGeom>
          <a:solidFill>
            <a:srgbClr val="287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17336" y="109728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78B4"/>
                </a:solidFill>
              </a:defRPr>
            </a:pPr>
            <a:r>
              <a:t>P3: Paso firme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17336" y="1828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11.6M (16%)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17336" y="228600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Prom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17336" y="24688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78B4"/>
                </a:solidFill>
              </a:defRPr>
            </a:pPr>
            <a:r>
              <a:t>60.3%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17336" y="27889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Brecha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17336" y="29718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78B4"/>
                </a:solidFill>
              </a:defRPr>
            </a:pPr>
            <a:r>
              <a:t>+9.3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17336" y="32918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Tend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7336" y="34747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78B4"/>
                </a:solidFill>
              </a:defRPr>
            </a:pPr>
            <a:r>
              <a:t>-0.1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17336" y="411480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3C3C"/>
                </a:solidFill>
              </a:defRPr>
            </a:pPr>
            <a:r>
              <a:t>57% mujeres</a:t>
            </a:r>
            <a:br/>
            <a:r>
              <a:t>40-49 años</a:t>
            </a:r>
            <a:br/>
            <a:r>
              <a:t>Occidente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82128" y="914400"/>
            <a:ext cx="16916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882128" y="914400"/>
            <a:ext cx="1691640" cy="137160"/>
          </a:xfrm>
          <a:prstGeom prst="rect">
            <a:avLst/>
          </a:prstGeom>
          <a:solidFill>
            <a:srgbClr val="963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73568" y="109728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63CB4"/>
                </a:solidFill>
              </a:defRPr>
            </a:pPr>
            <a:r>
              <a:t>P4: Voces que</a:t>
            </a:r>
            <a:br/>
            <a:r>
              <a:t>avanzan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73568" y="1828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8.4M (12%)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73568" y="228600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Prom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73568" y="24688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63CB4"/>
                </a:solidFill>
              </a:defRPr>
            </a:pPr>
            <a:r>
              <a:t>62.0%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73568" y="27889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Brecha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73568" y="29718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63CB4"/>
                </a:solidFill>
              </a:defRPr>
            </a:pPr>
            <a:r>
              <a:t>+19.5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73568" y="32918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Tend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73568" y="34747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63CB4"/>
                </a:solidFill>
              </a:defRPr>
            </a:pPr>
            <a:r>
              <a:t>+4.5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73568" y="411480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3C3C"/>
                </a:solidFill>
              </a:defRPr>
            </a:pPr>
            <a:r>
              <a:t>68% mujeres</a:t>
            </a:r>
            <a:br/>
            <a:r>
              <a:t>Mayor escolaridad</a:t>
            </a:r>
            <a:br/>
            <a:r>
              <a:t>Crecimiento máx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738360" y="914400"/>
            <a:ext cx="169164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38360" y="914400"/>
            <a:ext cx="1691640" cy="137160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29800" y="1097280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P5: Pilar</a:t>
            </a:r>
            <a:br/>
            <a:r>
              <a:t>democrático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29800" y="18288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16.7M (24%)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29800" y="228600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Prom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9800" y="24688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C3C3C"/>
                </a:solidFill>
              </a:defRPr>
            </a:pPr>
            <a:r>
              <a:t>72.8%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29800" y="27889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Brecha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29800" y="29718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C3C3C"/>
                </a:solidFill>
              </a:defRPr>
            </a:pPr>
            <a:r>
              <a:t>+10.6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29800" y="32918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6699"/>
                </a:solidFill>
              </a:defRPr>
            </a:pPr>
            <a:r>
              <a:t>Tend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29800" y="34747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C3C3C"/>
                </a:solidFill>
              </a:defRPr>
            </a:pPr>
            <a:r>
              <a:t>+1.8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29800" y="4114800"/>
            <a:ext cx="1508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C3C3C"/>
                </a:solidFill>
              </a:defRPr>
            </a:pPr>
            <a:r>
              <a:t>69% mujeres</a:t>
            </a:r>
            <a:br/>
            <a:r>
              <a:t>50-59 años</a:t>
            </a:r>
            <a:br/>
            <a:r>
              <a:t>Rural, indígena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Hallazgos clave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La baja participación es URBANA y JOVEN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</a:defRPr>
            </a:pPr>
            <a:r>
              <a:t>P0 tiene solo 4-5% en municipios de alta marginación. Las zonas rurales e indígenas participan más que el promedio.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5156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La brecha presidencial-intermedia es el problema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</a:defRPr>
            </a:pPr>
            <a:r>
              <a:t>P0, P2 y P4 (52% de la población) pierden 14-20 puntos en intermedias. El reto no es incorporar, sino sostener.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5156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Las secciones indígenas participan más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</a:defRPr>
            </a:pPr>
            <a:r>
              <a:t>63.1% vs 55.1% nacional. La diferencia es mayor en intermedias (hasta 13 puntos más). Se concentran en P5 y P4.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5156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</a:defRPr>
            </a:pPr>
            <a:r>
              <a:t>P1 es la alerta roja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06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C3C3C"/>
                </a:solidFill>
              </a:defRPr>
            </a:pPr>
            <a:r>
              <a:t>Único perfil en descenso (-1.6/elección). Baja claridad de asignación (44%). Sin intervención, 5.9M migrarán a P0.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Estrategias diferenciadas (I)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1645920" cy="4572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Perfil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097280"/>
            <a:ext cx="1371600" cy="4572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31720" y="11430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Objetivo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097280"/>
            <a:ext cx="2103120" cy="4572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143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Mensaje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097280"/>
            <a:ext cx="2103120" cy="4572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1143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097280"/>
            <a:ext cx="2103120" cy="4572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143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Momento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20" y="1097280"/>
            <a:ext cx="1645920" cy="4572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95560" y="1143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Territorio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3736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7452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C3232"/>
                </a:solidFill>
              </a:defRPr>
            </a:pPr>
            <a:r>
              <a:t>P0: Por convencer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80" y="1737360"/>
            <a:ext cx="1371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187452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Incorporar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173736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0" y="18745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Relevancia personal</a:t>
            </a:r>
            <a:br/>
            <a:r>
              <a:t>(no moralizar)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173736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18745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Digital + presencial</a:t>
            </a:r>
            <a:br/>
            <a:r>
              <a:t>urbano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173736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8745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Intermedias</a:t>
            </a:r>
            <a:br/>
            <a:r>
              <a:t>3-4 meses antes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173736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187452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Noroeste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38328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5204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961E"/>
                </a:solidFill>
              </a:defRPr>
            </a:pPr>
            <a:r>
              <a:t>P1: Constancia que</a:t>
            </a:r>
            <a:br/>
            <a:r>
              <a:t>se apaga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40280" y="3383280"/>
            <a:ext cx="1371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20" y="352044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Reactivar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338328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35204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Resultados tangibles</a:t>
            </a:r>
            <a:br/>
            <a:r>
              <a:t>de su voto pasado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6440" y="338328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35204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Radio, comunidad</a:t>
            </a:r>
            <a:br/>
            <a:r>
              <a:t>Org. civiles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338328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5204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Continua</a:t>
            </a:r>
            <a:br/>
            <a:r>
              <a:t>(no solo electoral)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04120" y="338328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5560" y="35204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Occidente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02920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16636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2A050"/>
                </a:solidFill>
              </a:defRPr>
            </a:pPr>
            <a:r>
              <a:t>P2: Generación</a:t>
            </a:r>
            <a:br/>
            <a:r>
              <a:t>en ascenso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0280" y="5029200"/>
            <a:ext cx="1371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31720" y="516636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Sostener en</a:t>
            </a:r>
            <a:br/>
            <a:r>
              <a:t>intermedias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0" y="502920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51663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Elecciones locales</a:t>
            </a:r>
            <a:br/>
            <a:r>
              <a:t>definen servicios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06440" y="502920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97880" y="51663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Digital: redes,</a:t>
            </a:r>
            <a:br/>
            <a:r>
              <a:t>video, interactivo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55280" y="502920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51663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6 meses antes</a:t>
            </a:r>
            <a:br/>
            <a:r>
              <a:t>de intermedias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04120" y="502920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95560" y="516636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Urbano nacional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Estrategias diferenciadas (II)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1645920" cy="4572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Perfil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097280"/>
            <a:ext cx="1371600" cy="4572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31720" y="11430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Objetivo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097280"/>
            <a:ext cx="2103120" cy="4572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143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Mensaje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097280"/>
            <a:ext cx="2103120" cy="4572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1143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097280"/>
            <a:ext cx="2103120" cy="4572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1430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Momento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04120" y="1097280"/>
            <a:ext cx="1645920" cy="457200"/>
          </a:xfrm>
          <a:prstGeom prst="round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95560" y="1143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Territorio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173736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7452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878B4"/>
                </a:solidFill>
              </a:defRPr>
            </a:pPr>
            <a:r>
              <a:t>P3: Paso firme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80" y="1737360"/>
            <a:ext cx="1371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187452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Mantener y</a:t>
            </a:r>
            <a:br/>
            <a:r>
              <a:t>multiplicar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173736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0" y="18745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Reconocimiento</a:t>
            </a:r>
            <a:br/>
            <a:r>
              <a:t>Promotor cívico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173736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18745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Mixto: TV, radio</a:t>
            </a:r>
            <a:br/>
            <a:r>
              <a:t>+ digital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173736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8745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Continuo con</a:t>
            </a:r>
            <a:br/>
            <a:r>
              <a:t>refuerzo electoral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173736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187452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Occidente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38328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5204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63CB4"/>
                </a:solidFill>
              </a:defRPr>
            </a:pPr>
            <a:r>
              <a:t>P4: Voces que</a:t>
            </a:r>
            <a:br/>
            <a:r>
              <a:t>avanzan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40280" y="3383280"/>
            <a:ext cx="1371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31720" y="352044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Canalizar</a:t>
            </a:r>
            <a:br/>
            <a:r>
              <a:t>liderazgo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338328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0" y="35204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Empoderar: observadoras</a:t>
            </a:r>
            <a:br/>
            <a:r>
              <a:t>capacitadoras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6440" y="338328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35204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Digital + redes</a:t>
            </a:r>
            <a:br/>
            <a:r>
              <a:t>de mujeres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55280" y="338328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0" y="35204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Post-presidencial</a:t>
            </a:r>
            <a:br/>
            <a:r>
              <a:t>para intermedias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04120" y="338328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95560" y="352044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Nacional</a:t>
            </a:r>
            <a:br/>
            <a:r>
              <a:t>(Tlaxcala piloto)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02920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16636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P5: Pilar</a:t>
            </a:r>
            <a:br/>
            <a:r>
              <a:t>democrático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0280" y="5029200"/>
            <a:ext cx="137160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31720" y="516636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Preservar</a:t>
            </a:r>
            <a:br/>
            <a:r>
              <a:t>y transmitir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57600" y="502920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0" y="51663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Gratitud institucional</a:t>
            </a:r>
            <a:br/>
            <a:r>
              <a:t>Transmisión intergen.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06440" y="502920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97880" y="51663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Presencial: radio</a:t>
            </a:r>
            <a:br/>
            <a:r>
              <a:t>comunitaria, brigadas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55280" y="5029200"/>
            <a:ext cx="21031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46720" y="51663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Permanente</a:t>
            </a:r>
            <a:br/>
            <a:r>
              <a:t>Casillas accesibles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04120" y="5029200"/>
            <a:ext cx="1645920" cy="1463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95560" y="516636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C3C3C"/>
                </a:solidFill>
              </a:defRPr>
            </a:pPr>
            <a:r>
              <a:t>Rural</a:t>
            </a:r>
            <a:br/>
            <a:r>
              <a:t>Sur-Sureste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Viabilidad y herramientas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99"/>
                </a:solidFill>
              </a:defRPr>
            </a:pPr>
            <a:r>
              <a:t>Reproducibilidad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4300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3C3C"/>
                </a:solidFill>
              </a:defRPr>
            </a:pPr>
            <a:r>
              <a:t>código abierto en repositorio con UV (entorno reproducible). 11 notebooks numerados, desde ingesta hasta visualización. Segmentación ejecutable en ~12 segundos.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515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99"/>
                </a:solidFill>
              </a:defRPr>
            </a:pPr>
            <a:r>
              <a:t>Actualización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2402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3C3C"/>
                </a:solidFill>
              </a:defRPr>
            </a:pPr>
            <a:r>
              <a:t>La metodología se puede reaplicar automáticamente con los datos de futuras elecciones. Solo requiere agregar el nuevo CSV del CCPC.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39"/>
            <a:ext cx="10515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375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99"/>
                </a:solidFill>
              </a:defRPr>
            </a:pPr>
            <a:r>
              <a:t>Mapa interactivo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337559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3C3C"/>
                </a:solidFill>
              </a:defRPr>
            </a:pPr>
            <a:r>
              <a:t>Mapa folium con capas municipal y estatal, panel de perfiles con gráficos SVG comparativos. Explorable por cualquier funcionario del INE sin software especial.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515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99"/>
                </a:solidFill>
              </a:defRPr>
            </a:pPr>
            <a:r>
              <a:t>Fichas de perfil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43484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3C3C"/>
                </a:solidFill>
              </a:defRPr>
            </a:pPr>
            <a:r>
              <a:t>PNG y PDF de alta resolución (200 dpi) con trayectoria, métricas, distribución demográfica, escolaridad, internet, subperfiles y mapa de presencia territorial.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86400"/>
            <a:ext cx="1051560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32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99"/>
                </a:solidFill>
              </a:defRPr>
            </a:pPr>
            <a:r>
              <a:t>27 subperfiles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53212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3C3C"/>
                </a:solidFill>
              </a:defRPr>
            </a:pPr>
            <a:r>
              <a:t>Microtargeting territorial: cada subperfil con municipio dominante, entidad de sobrerrepresentación y persona-tipo (sexo x edad).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6 perfiles estables (ARI 0.98) que capturan nivel Y forma de participación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La baja participación es urbana y joven, no rural ni marginada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38327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52% de la población pierde 14-20 puntos en intermedias vs presidenciales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5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P1 (5.9M) es el único perfil en descenso: requiere intervención urgente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Estrategia diferenciada por perfil: mensaje, canal, momento y territorio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Herramientas reproducibles y actualizables para el 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6BEDC"/>
                </a:solidFill>
              </a:defRPr>
            </a:pPr>
            <a:r>
              <a:t>Hackea la Participación | INE Hackatón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